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766560" y="0"/>
            <a:ext cx="5422392" cy="6858000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5C0D6"/>
                </a:solidFill>
                <a:latin typeface="맑은 고딕"/>
              </a:rPr>
              <a:t>SH-FMS  자동화공장 통합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5852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700" b="1">
                <a:solidFill>
                  <a:srgbClr val="D3D9E2"/>
                </a:solidFill>
                <a:latin typeface="맑은 고딕"/>
              </a:rPr>
              <a:t>알람이 40분간 떠 있었는데</a:t>
            </a:r>
          </a:p>
          <a:p>
            <a:pPr algn="l">
              <a:spcAft>
                <a:spcPts val="800"/>
              </a:spcAft>
            </a:pPr>
            <a:r>
              <a:rPr sz="3700" b="1">
                <a:solidFill>
                  <a:srgbClr val="D3D9E2"/>
                </a:solidFill>
                <a:latin typeface="맑은 고딕"/>
              </a:rPr>
              <a:t>아무도 못 봤다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24528"/>
            <a:ext cx="914400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78828F"/>
                </a:solidFill>
                <a:latin typeface="맑은 고딕"/>
              </a:rPr>
              <a:t>개인 프로젝트 · 공장 통합 관제 시스템 설계 및 구현</a:t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78828F"/>
                </a:solidFill>
                <a:latin typeface="맑은 고딕"/>
              </a:rPr>
              <a:t>ISA-101 고성능 HMI · ISA-18.2 알람관리 · C++ / C#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377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프로젝트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3774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3D9E2"/>
                </a:solidFill>
                <a:latin typeface="맑은 고딕"/>
              </a:rPr>
              <a:t>프로젝트SH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7980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798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3D9E2"/>
                </a:solidFill>
                <a:latin typeface="맑은 고딕"/>
              </a:rPr>
              <a:t>개인 프로젝트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186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만든 사람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2186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3D9E2"/>
                </a:solidFill>
                <a:latin typeface="맑은 고딕"/>
              </a:rPr>
              <a:t>남성흠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6393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6393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3D9E2"/>
                </a:solidFill>
                <a:latin typeface="맑은 고딕"/>
              </a:rPr>
              <a:t>2026-07-10 ~ 11-15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0599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진척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05993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3D9E2"/>
                </a:solidFill>
                <a:latin typeface="맑은 고딕"/>
              </a:rPr>
              <a:t>78%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4805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문서번호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44805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3D9E2"/>
                </a:solidFill>
                <a:latin typeface="맑은 고딕"/>
              </a:rPr>
              <a:t>SH-FMS-RPT-2026-001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D3D9E2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8828F"/>
                </a:solidFill>
                <a:latin typeface="Consola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SH-FMS-RPT-2026-001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00200"/>
            <a:ext cx="10881360" cy="566928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5C0D6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1907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과제 배경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746504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2026-05-14 에 무슨 일이 있었나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13432"/>
            <a:ext cx="10881360" cy="566928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50592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5C0D6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43230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설계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459736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ISA-101 과 ISA-18.2 를 못 박은 이유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26664"/>
            <a:ext cx="10881360" cy="566928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63824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5C0D6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14553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시스템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172968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C++ 수집기 + C# 게이트웨이 + 관제 화면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739896"/>
            <a:ext cx="10881360" cy="566928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77056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5C0D6"/>
                </a:solidFill>
                <a:latin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5876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개발 중 잡은 결함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8862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현장에 올렸으면 사고 때 데이터가 비었을 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453128"/>
            <a:ext cx="10881360" cy="566928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59028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35C0D6"/>
                </a:solidFill>
                <a:latin typeface="Consola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5720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기대 효과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599432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알람 700건을 300건으로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91695" cy="27432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35C0D6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D3D9E2"/>
                </a:solidFill>
                <a:latin typeface="맑은 고딕"/>
              </a:rPr>
              <a:t>과제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78828F"/>
                </a:solidFill>
                <a:latin typeface="맑은 고딕"/>
              </a:rPr>
              <a:t>2026-05-14 CT-02 건조로 과열 사례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D3D9E2"/>
                </a:solidFill>
                <a:latin typeface="맑은 고딕"/>
              </a:rPr>
              <a:t>무슨 일이 있었나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2026-05-14 CT-02 건조로 과열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8828F"/>
                </a:solidFill>
                <a:latin typeface="Consolas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SH-FMS-RPT-2026-001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36576" cy="91440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6916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3D9E2"/>
                </a:solidFill>
                <a:latin typeface="맑은 고딕"/>
              </a:rPr>
              <a:t>알람이 40분간 떠 있었는데 아무도 못 봤습니다.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3D9E2"/>
                </a:solidFill>
                <a:latin typeface="맑은 고딕"/>
              </a:rPr>
              <a:t>운전원은 다른 화면을 보고 있었고, 알람은 그 화면에 안 뜨는 구조였습니다.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048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— 2026-05-14 사고 조사 결과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880360"/>
            <a:ext cx="3490874" cy="237744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880360"/>
            <a:ext cx="3490874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6324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5C0D6"/>
                </a:solidFill>
                <a:latin typeface="Consolas"/>
              </a:rPr>
              <a:t>원인 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30098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감시 화면이 5개 따로 떠 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3611880"/>
            <a:ext cx="3088538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배합 = LS 터치패널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코팅 = 미쓰비시 GOT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CCTV = NVR 전용 클라이언트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전력 = 엑셀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가스검지 = 독립 판넬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운전원이 화면을 옮겨 다녀야 이상을 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0410" y="2880360"/>
            <a:ext cx="3490874" cy="237744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0410" y="2880360"/>
            <a:ext cx="3490874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1578" y="306324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5C0D6"/>
                </a:solidFill>
                <a:latin typeface="Consolas"/>
              </a:rPr>
              <a:t>원인 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30098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화면이 알록달록하다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1578" y="3611880"/>
            <a:ext cx="3088538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1차 통합 화면은 상태마다 색을 다 넣었다.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그래서 색이 늘 보였고, 색이 보이는 것이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아무 신호도 아니게 되었다.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정작 이상이 발생해도 눈에 안 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2452" y="2880360"/>
            <a:ext cx="3490874" cy="237744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2452" y="2880360"/>
            <a:ext cx="3490874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3620" y="306324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5C0D6"/>
                </a:solidFill>
                <a:latin typeface="Consolas"/>
              </a:rPr>
              <a:t>원인 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3620" y="330098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알람이 하루 700~900건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3620" y="3611880"/>
            <a:ext cx="3088538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ISA-18.2 권고치(300건)의 2~3배다.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운전원이 다 확인할 수 없으니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대부분 무시한다.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알람이 많다는 건 알람이 없다는 뜻이다.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91695" cy="27432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35C0D6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D3D9E2"/>
                </a:solidFill>
                <a:latin typeface="맑은 고딕"/>
              </a:rPr>
              <a:t>설계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78828F"/>
                </a:solidFill>
                <a:latin typeface="맑은 고딕"/>
              </a:rPr>
              <a:t>기능을 늘리는 과제가 아니라 기준을 바꾸는 과제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D3D9E2"/>
                </a:solidFill>
                <a:latin typeface="맑은 고딕"/>
              </a:rPr>
              <a:t>ISA-101 — 색 예산을 정했다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평상시 화면에는 색이 거의 없다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8828F"/>
                </a:solidFill>
                <a:latin typeface="Consolas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SH-FMS-RPT-2026-001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6949440" cy="384048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41932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78828F"/>
                </a:solidFill>
                <a:latin typeface="맑은 고딕"/>
              </a:rPr>
              <a:t>용도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6662" y="1741932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78828F"/>
                </a:solidFill>
                <a:latin typeface="맑은 고딕"/>
              </a:rPr>
              <a:t>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3516" y="1741932"/>
            <a:ext cx="318942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78828F"/>
                </a:solidFill>
                <a:latin typeface="맑은 고딕"/>
              </a:rPr>
              <a:t>사용 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459736"/>
            <a:ext cx="694944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125980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정상 공정값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6662" y="2125980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8828F"/>
                </a:solidFill>
                <a:latin typeface="맑은 고딕"/>
              </a:rPr>
              <a:t>저채도 회색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3516" y="2125980"/>
            <a:ext cx="318942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화면의 대부분 — 정상 상태 전부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459736"/>
            <a:ext cx="6949440" cy="384048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2843784"/>
            <a:ext cx="694944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10028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경고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6662" y="2510028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6A02C"/>
                </a:solidFill>
                <a:latin typeface="맑은 고딕"/>
              </a:rPr>
              <a:t>앰버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3516" y="2510028"/>
            <a:ext cx="318942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H / L 한계 접근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227832"/>
            <a:ext cx="694944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2894076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알람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6662" y="2894076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6483C"/>
                </a:solidFill>
                <a:latin typeface="맑은 고딕"/>
              </a:rPr>
              <a:t>레드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3516" y="2894076"/>
            <a:ext cx="318942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HH / LL 초과, 트립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227832"/>
            <a:ext cx="6949440" cy="384048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3611880"/>
            <a:ext cx="694944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278124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조치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56662" y="3278124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5C0D6"/>
                </a:solidFill>
                <a:latin typeface="맑은 고딕"/>
              </a:rPr>
              <a:t>블루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3516" y="3278124"/>
            <a:ext cx="318942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조작자 확인 대기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3995928"/>
            <a:ext cx="694944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662172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가동 표시등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6662" y="3662172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4F9E63"/>
                </a:solidFill>
                <a:latin typeface="맑은 고딕"/>
              </a:rPr>
              <a:t>뮤트 그린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3516" y="3662172"/>
            <a:ext cx="318942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설비 운전 상태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995928"/>
            <a:ext cx="6949440" cy="384048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379976"/>
            <a:ext cx="694944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4046220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브랜드(시안)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6662" y="4046220"/>
            <a:ext cx="166055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5C0D6"/>
                </a:solidFill>
                <a:latin typeface="맑은 고딕"/>
              </a:rPr>
              <a:t>네비게이션 전용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3516" y="4046220"/>
            <a:ext cx="318942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공정 데이터에는 쓰지 않음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17373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화면 계층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2281428"/>
            <a:ext cx="68580" cy="6858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5008" y="219456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3D9E2"/>
                </a:solidFill>
                <a:latin typeface="맑은 고딕"/>
              </a:rPr>
              <a:t>Level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5008" y="240944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공장 전체 개요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2784348"/>
            <a:ext cx="68580" cy="6858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65008" y="269748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3D9E2"/>
                </a:solidFill>
                <a:latin typeface="맑은 고딕"/>
              </a:rPr>
              <a:t>Level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291236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유닛 · 일상 운전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63840" y="3287268"/>
            <a:ext cx="68580" cy="6858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320040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3D9E2"/>
                </a:solidFill>
                <a:latin typeface="맑은 고딕"/>
              </a:rPr>
              <a:t>Level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341528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개별 설비 · 영상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63840" y="3790188"/>
            <a:ext cx="68580" cy="6858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65008" y="37033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3D9E2"/>
                </a:solidFill>
                <a:latin typeface="맑은 고딕"/>
              </a:rPr>
              <a:t>Level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65008" y="391820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트렌드 · 알람 진단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4526280"/>
            <a:ext cx="36576" cy="91440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6112" y="45262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3D9E2"/>
                </a:solidFill>
                <a:latin typeface="맑은 고딕"/>
              </a:rPr>
              <a:t>화면에서 색이 보이면 그 자체가 “봐야 할 것”이라는 신호가 되어야 한다.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3D9E2"/>
                </a:solidFill>
                <a:latin typeface="맑은 고딕"/>
              </a:rPr>
              <a:t>1차 화면에서는 색이 늘 보였기 때문에 아무 신호도 아니었다.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D3D9E2"/>
                </a:solidFill>
                <a:latin typeface="맑은 고딕"/>
              </a:rPr>
              <a:t>ISA-18.2 — 알람을 줄이는 세 가지 장치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많이 띄우는 게 아니라 쓸데없는 걸 안 띄우는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8828F"/>
                </a:solidFill>
                <a:latin typeface="Consolas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SH-FMS-RPT-2026-001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3490874" cy="246888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91640"/>
            <a:ext cx="3490874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7452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5C0D6"/>
                </a:solidFill>
                <a:latin typeface="Consolas"/>
              </a:rPr>
              <a:t>장치 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1226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중복 억제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423160"/>
            <a:ext cx="308853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같은 태그·같은 유형의 알람이 이미 활성이면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새로 만들지 않는다.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값만 갱신하고 알람은 하나로 유지한다.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감축 추정 : 약 35%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0410" y="1691640"/>
            <a:ext cx="3490874" cy="246888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0410" y="1691640"/>
            <a:ext cx="3490874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1578" y="187452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5C0D6"/>
                </a:solidFill>
                <a:latin typeface="Consolas"/>
              </a:rPr>
              <a:t>장치 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1578" y="211226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히스테리시스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2423160"/>
            <a:ext cx="308853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한계값에서 deadband 만큼 확실히 되돌아와야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해소로 본다.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값이 경계에서 떨릴 때 같은 알람이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분당 수십 건씩 쌓이던 문제를 막는다.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감축 추정 : 약 28%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2452" y="1691640"/>
            <a:ext cx="3490874" cy="246888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2452" y="1691640"/>
            <a:ext cx="3490874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3620" y="1874520"/>
            <a:ext cx="308853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5C0D6"/>
                </a:solidFill>
                <a:latin typeface="Consolas"/>
              </a:rPr>
              <a:t>장치 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3620" y="2112264"/>
            <a:ext cx="30885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상태기반 억제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3620" y="2423160"/>
            <a:ext cx="3088538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설비가 정지 상태면 그 설비 알람은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조치가 불가능하므로 억제한다.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ISA-18.2 가 명시적으로 요구하는 기능이다.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감축 추정 : 약 12%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430268"/>
            <a:ext cx="68580" cy="6858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3434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D3D9E2"/>
                </a:solidFill>
                <a:latin typeface="맑은 고딕"/>
              </a:rPr>
              <a:t>미확인 상태로 해소된 알람은 목록에서 지우지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45582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조용히 사라지면 무슨 일이 있었는지 아무도 모른다. UnackCleared 상태로 남겨 둔다.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5070348"/>
            <a:ext cx="68580" cy="6858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9834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D3D9E2"/>
                </a:solidFill>
                <a:latin typeface="맑은 고딕"/>
              </a:rPr>
              <a:t>셸빙은 만료시각을 반드시 넣고 최대 8시간으로 자른다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19836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8828F"/>
                </a:solidFill>
                <a:latin typeface="맑은 고딕"/>
              </a:rPr>
              <a:t>ISA-18.2 는 무기한 셸빙을 금지한다. 만료되면 자동으로 다시 활성화된다.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91695" cy="27432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35C0D6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D3D9E2"/>
                </a:solidFill>
                <a:latin typeface="맑은 고딕"/>
              </a:rPr>
              <a:t>시스템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78828F"/>
                </a:solidFill>
                <a:latin typeface="맑은 고딕"/>
              </a:rPr>
              <a:t>C++ 수집기 + C# 게이트웨이 + 웹 관제 화면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D3D9E2"/>
                </a:solidFill>
                <a:latin typeface="맑은 고딕"/>
              </a:rPr>
              <a:t>데이터 경로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PLC 에서 브라우저까지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8828F"/>
                </a:solidFill>
                <a:latin typeface="Consolas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SH-FMS-RPT-2026-001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737360"/>
            <a:ext cx="2087209" cy="91440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865376"/>
            <a:ext cx="183117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35C0D6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084832"/>
            <a:ext cx="183117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3D9E2"/>
                </a:solidFill>
                <a:latin typeface="맑은 고딕"/>
              </a:rPr>
              <a:t>PLC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04288"/>
            <a:ext cx="183117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Modbus / XGT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5305" y="1737360"/>
            <a:ext cx="2087209" cy="91440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3321" y="1865376"/>
            <a:ext cx="183117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35C0D6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3321" y="2084832"/>
            <a:ext cx="183117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3D9E2"/>
                </a:solidFill>
                <a:latin typeface="맑은 고딕"/>
              </a:rPr>
              <a:t>C++ 수집기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3321" y="2304288"/>
            <a:ext cx="183117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1초 폴링 · 데드밴드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52242" y="1737360"/>
            <a:ext cx="2087209" cy="91440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0258" y="1865376"/>
            <a:ext cx="183117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35C0D6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0258" y="2084832"/>
            <a:ext cx="183117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3D9E2"/>
                </a:solidFill>
                <a:latin typeface="맑은 고딕"/>
              </a:rPr>
              <a:t>C# 게이트웨이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0258" y="2304288"/>
            <a:ext cx="183117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알람 평가 · 히스토리안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9179" y="1737360"/>
            <a:ext cx="2087209" cy="91440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7195" y="1865376"/>
            <a:ext cx="183117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35C0D6"/>
                </a:solidFill>
                <a:latin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7195" y="2084832"/>
            <a:ext cx="183117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3D9E2"/>
                </a:solidFill>
                <a:latin typeface="맑은 고딕"/>
              </a:rPr>
              <a:t>SignalR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7195" y="2304288"/>
            <a:ext cx="183117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변화분 푸시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46116" y="1737360"/>
            <a:ext cx="2087209" cy="91440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74132" y="1865376"/>
            <a:ext cx="183117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35C0D6"/>
                </a:solidFill>
                <a:latin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74132" y="2084832"/>
            <a:ext cx="183117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3D9E2"/>
                </a:solidFill>
                <a:latin typeface="맑은 고딕"/>
              </a:rPr>
              <a:t>관제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74132" y="2304288"/>
            <a:ext cx="183117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ISA-101 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0175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수집기를 C++ 로 쓴 이유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342900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1초 주기로 8대 PLC, 1,284 태그를 폴링한다.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스캔이 밀리면 트렌드에 구멍이 생기고, 그 구멍이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사고 조사 때 문제가 된다.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GC 일시정지를 신경 쓰지 않아도 되는 쪽을 골랐다.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상주 메모리 20MB 안쪽이라 현장 산업용 PC 에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올리기도 부담이 없다.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0175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게이트웨이를 C# 로 쓴 이유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42900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하는 일이 REST / SignalR / JSON / 시계열 관리다.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여기서 C++ 을 쓸 이유가 없다.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ASP.NET Core 에 다 들어 있어서 NuGet 패키지를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하나도 쓰지 않았다 — 제어망 패키지 반입 심의를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통째로 피했다.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120640"/>
            <a:ext cx="36576" cy="91440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1206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3D9E2"/>
                </a:solidFill>
                <a:latin typeface="맑은 고딕"/>
              </a:rPr>
              <a:t>이 시스템은 읽기 전용이다. 설비 제어 명령은 취급하지 않는다.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3D9E2"/>
                </a:solidFill>
                <a:latin typeface="맑은 고딕"/>
              </a:rPr>
              <a:t>감시 시스템이 쓰기 경로를 갖는 순간 보안 심사와 안전 검토가 완전히 다른 등급이 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8338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— 2026-07-24 설계 검토 결정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D3D9E2"/>
                </a:solidFill>
                <a:latin typeface="맑은 고딕"/>
              </a:rPr>
              <a:t>관제 화면 8종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ISA-101 화면 계층에 따라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8828F"/>
                </a:solidFill>
                <a:latin typeface="Consola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SH-FMS-RPT-2026-001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10881360" cy="384048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41932"/>
            <a:ext cx="10506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78828F"/>
                </a:solidFill>
                <a:latin typeface="맑은 고딕"/>
              </a:rPr>
              <a:t>계층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46757" y="1741932"/>
            <a:ext cx="213878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78828F"/>
                </a:solidFill>
                <a:latin typeface="맑은 고딕"/>
              </a:rPr>
              <a:t>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1842" y="1741932"/>
            <a:ext cx="5620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78828F"/>
                </a:solidFill>
                <a:latin typeface="맑은 고딕"/>
              </a:rPr>
              <a:t>주요 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98962" y="1741932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78828F"/>
                </a:solidFill>
                <a:latin typeface="맑은 고딕"/>
              </a:rPr>
              <a:t>우선순위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59736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25980"/>
            <a:ext cx="10506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Level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6757" y="2125980"/>
            <a:ext cx="213878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공장 전체 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1842" y="2125980"/>
            <a:ext cx="5620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동별 가동상태, 핵심 공정값 18종, 알람 요약, 영상 4분할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98962" y="2125980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6483C"/>
                </a:solidFill>
                <a:latin typeface="맑은 고딕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459736"/>
            <a:ext cx="10881360" cy="384048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43784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510028"/>
            <a:ext cx="10506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Level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6757" y="2510028"/>
            <a:ext cx="213878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라인 공정 미믹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31842" y="2510028"/>
            <a:ext cx="5620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SVG 설비 배치도 + 공정 흐름 + 실시간 태그값 오버레이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8962" y="2510028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6483C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3227832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894076"/>
            <a:ext cx="10506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Level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6757" y="2894076"/>
            <a:ext cx="213878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화학 배치 공정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1842" y="2894076"/>
            <a:ext cx="5620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반응기 온도·압력·교반·레벨, ISA-88 페이즈, 인터록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98962" y="2894076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6A02C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3227832"/>
            <a:ext cx="10881360" cy="384048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3611880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278124"/>
            <a:ext cx="10506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Level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46757" y="3278124"/>
            <a:ext cx="213878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에너지 · 유틸리티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1842" y="3278124"/>
            <a:ext cx="5620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전력·스팀·용수, 구역별 원단위, 피크 관리, 탄소배출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98962" y="3278124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78828F"/>
                </a:solidFill>
                <a:latin typeface="맑은 고딕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995928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3662172"/>
            <a:ext cx="10506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Level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6757" y="3662172"/>
            <a:ext cx="213878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CCTV 통합관제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1842" y="3662172"/>
            <a:ext cx="5620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1/4/9/12분할, PTZ, AI 영상분석, 녹화 타임라인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8962" y="3662172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6483C"/>
                </a:solidFill>
                <a:latin typeface="맑은 고딕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3995928"/>
            <a:ext cx="10881360" cy="384048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4379976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4046220"/>
            <a:ext cx="10506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Level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46757" y="4046220"/>
            <a:ext cx="213878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안전 관제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31842" y="4046220"/>
            <a:ext cx="5620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구역별 위험요인·가스·화재·재실인원, 작업허가(PTW)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98962" y="4046220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6A02C"/>
                </a:solidFill>
                <a:latin typeface="맑은 고딕"/>
              </a:rPr>
              <a:t>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4764024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4430268"/>
            <a:ext cx="10506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Level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6757" y="4430268"/>
            <a:ext cx="213878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알람 관리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31842" y="4430268"/>
            <a:ext cx="5620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활성 알람, ACK/셸빙, 알람 부하 KPI, 빈발 알람 분석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98962" y="4430268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6483C"/>
                </a:solidFill>
                <a:latin typeface="맑은 고딕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4764024"/>
            <a:ext cx="10881360" cy="384048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58368" y="5148072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9808" y="4814316"/>
            <a:ext cx="105064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Level 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46757" y="4814316"/>
            <a:ext cx="213878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트렌드 · 히스토리안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31842" y="4814316"/>
            <a:ext cx="5620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태그 다중 트렌드, 정규화 표시, 통계, CSV 내보내기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98962" y="4814316"/>
            <a:ext cx="14859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D6A02C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91695" cy="27432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35C0D6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D3D9E2"/>
                </a:solidFill>
                <a:latin typeface="맑은 고딕"/>
              </a:rPr>
              <a:t>개발 중 잡은 결함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78828F"/>
                </a:solidFill>
                <a:latin typeface="맑은 고딕"/>
              </a:rPr>
              <a:t>현장에 올렸으면 사고 때 데이터가 비었을 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D3D9E2"/>
                </a:solidFill>
                <a:latin typeface="맑은 고딕"/>
              </a:rPr>
              <a:t>개발 중 잡은 결함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증상은 가벼워 보였지만 원인은 무거웠다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8828F"/>
                </a:solidFill>
                <a:latin typeface="Consola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SH-FMS-RPT-2026-001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45920"/>
            <a:ext cx="10881360" cy="41148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96212"/>
            <a:ext cx="83301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8828F"/>
                </a:solidFill>
                <a:latin typeface="맑은 고딕"/>
              </a:rPr>
              <a:t>일자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9130" y="169621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8828F"/>
                </a:solidFill>
                <a:latin typeface="맑은 고딕"/>
              </a:rPr>
              <a:t>증상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5910" y="1696212"/>
            <a:ext cx="366217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8828F"/>
                </a:solidFill>
                <a:latin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4385" y="169621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8828F"/>
                </a:solidFill>
                <a:latin typeface="맑은 고딕"/>
              </a:rPr>
              <a:t>조치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68880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07692"/>
            <a:ext cx="83301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08-06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9130" y="210769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XGT 태그 값이 뒤집혀 나옴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5910" y="2107692"/>
            <a:ext cx="366217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엔디언. Modbus=빅, XGT=리틀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4385" y="210769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프로토콜별 디코딩 분리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468880"/>
            <a:ext cx="10881360" cy="411480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80360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519172"/>
            <a:ext cx="83301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08-14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29130" y="251917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6483C"/>
                </a:solidFill>
                <a:latin typeface="맑은 고딕"/>
              </a:rPr>
              <a:t>PLC 1대 정지 시 전체 스캔 정지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5910" y="2519172"/>
            <a:ext cx="366217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블로킹 connect() 가 timeout 무시. OS 기본 20초 대기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84385" y="251917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논블로킹 + select() 로 교체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3291840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930652"/>
            <a:ext cx="83301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08-27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29130" y="293065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같은 알람이 분당 수십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75910" y="2930652"/>
            <a:ext cx="366217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한계값 복귀 즉시 해소 판정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84385" y="293065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히스테리시스(deadband) 도입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3291840"/>
            <a:ext cx="10881360" cy="411480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3703320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342132"/>
            <a:ext cx="83301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09-19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29130" y="334213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미믹 화면이 1초마다 깜빡임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5910" y="3342132"/>
            <a:ext cx="366217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SVG 전체 재그리기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84385" y="334213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값 노드만 부분 갱신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114800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3753612"/>
            <a:ext cx="83301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09-23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29130" y="375361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MSVC 빌드 실패 (std::min)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5910" y="3753612"/>
            <a:ext cx="366217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windows.h 의 min 매크로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84385" y="3753612"/>
            <a:ext cx="29004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3D9E2"/>
                </a:solidFill>
                <a:latin typeface="맑은 고딕"/>
              </a:rPr>
              <a:t>NOMINMAX 정의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4343400"/>
            <a:ext cx="36576" cy="91440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43434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3D9E2"/>
                </a:solidFill>
                <a:latin typeface="맑은 고딕"/>
              </a:rPr>
              <a:t>08-14 건이 가장 위험했다. 증상은 “가끔 트렌드가 끊긴다” 정도로 보였는데,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3D9E2"/>
                </a:solidFill>
                <a:latin typeface="맑은 고딕"/>
              </a:rPr>
              <a:t>실제로는 죽은 PLC 한 대 때문에 나머지 7대 감시가 20초씩 멈추고 있었다.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" y="505663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— 현장에 올렸으면 사고 때 데이터가 통째로 비었을 것이다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D3D9E2"/>
                </a:solidFill>
                <a:latin typeface="맑은 고딕"/>
              </a:rPr>
              <a:t>검증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2026-09-23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8828F"/>
                </a:solidFill>
                <a:latin typeface="Consola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SH-FMS-RPT-2026-001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2581579" cy="105156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91640"/>
            <a:ext cx="41148" cy="1051560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37944"/>
            <a:ext cx="221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C++ 수집기 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22158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D3D9E2"/>
                </a:solidFill>
                <a:latin typeface="Consolas"/>
              </a:rPr>
              <a:t>0 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468880"/>
            <a:ext cx="221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8828F"/>
                </a:solidFill>
                <a:latin typeface="맑은 고딕"/>
              </a:rPr>
              <a:t>MSVC 14.51 / 경고 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2827" y="1691640"/>
            <a:ext cx="2581579" cy="105156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2827" y="1691640"/>
            <a:ext cx="41148" cy="1051560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2283" y="1837944"/>
            <a:ext cx="221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C# 게이트웨이 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2283" y="2075688"/>
            <a:ext cx="22158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D3D9E2"/>
                </a:solidFill>
                <a:latin typeface="Consolas"/>
              </a:rPr>
              <a:t>0 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468880"/>
            <a:ext cx="221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8828F"/>
                </a:solidFill>
                <a:latin typeface="맑은 고딕"/>
              </a:rPr>
              <a:t>.NET 10.0.103 / 경고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7286" y="1691640"/>
            <a:ext cx="2581579" cy="105156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7286" y="1691640"/>
            <a:ext cx="41148" cy="1051560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6742" y="1837944"/>
            <a:ext cx="221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관제 화면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2" y="2075688"/>
            <a:ext cx="22158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D3D9E2"/>
                </a:solidFill>
                <a:latin typeface="Consolas"/>
              </a:rPr>
              <a:t>8  /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2" y="2468880"/>
            <a:ext cx="221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8828F"/>
                </a:solidFill>
                <a:latin typeface="맑은 고딕"/>
              </a:rPr>
              <a:t>콘솔 오류 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51745" y="1691640"/>
            <a:ext cx="2581579" cy="105156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51745" y="1691640"/>
            <a:ext cx="41148" cy="1051560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201" y="1837944"/>
            <a:ext cx="221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알람 판정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201" y="2075688"/>
            <a:ext cx="22158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D3D9E2"/>
                </a:solidFill>
                <a:latin typeface="Consolas"/>
              </a:rPr>
              <a:t>정상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201" y="2468880"/>
            <a:ext cx="22158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78828F"/>
                </a:solidFill>
                <a:latin typeface="맑은 고딕"/>
              </a:rPr>
              <a:t>P1 2건 정확 분류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06324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알람 엔진 동작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352044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78828F"/>
                </a:solidFill>
                <a:latin typeface="Consolas"/>
              </a:rPr>
              <a:t>POST /api/v1/tags/batch   CT02_TT401=141.2, CT01_TT301=118.4, UTL_AIR701=5.4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78828F"/>
                </a:solidFill>
                <a:latin typeface="Consolas"/>
              </a:rPr>
              <a:t>  →  {"received":3, "alarms":2}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78828F"/>
                </a:solidFill>
                <a:latin typeface="Consolas"/>
              </a:rPr>
              <a:t>     P1  CT02_TT401  코팅 2라인 건조로 온도 상한상한 초과 (141.2 ℃ / HH 138 ℃)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78828F"/>
                </a:solidFill>
                <a:latin typeface="Consolas"/>
              </a:rPr>
              <a:t>     P1  UTL_AIR701  압축공기 공급압 하한하한 미달 (5.4 bar / LL 5.5 bar)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78828F"/>
                </a:solidFill>
                <a:latin typeface="Consolas"/>
              </a:rPr>
              <a:t>         CT01_TT301  118.4 ℃ → 한계값 내, 알람 없음  (정상)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78828F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78828F"/>
                </a:solidFill>
                <a:latin typeface="Consolas"/>
              </a:rPr>
              <a:t>히스테리시스 :  129.0 (H 초과)  →  127.5 (해소 안 됨)  →  126.0 (해소)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78828F"/>
                </a:solidFill>
                <a:latin typeface="Consolas"/>
              </a:rPr>
              <a:t>               deadband 1.0 이 의도대로 동작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78828F"/>
                </a:solidFill>
                <a:latin typeface="Consolas"/>
              </a:rPr>
              <a:t>미확인 해소   :  목록에 UnackCleared 로 유지됨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14600"/>
            <a:ext cx="12191695" cy="27432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35C0D6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D3D9E2"/>
                </a:solidFill>
                <a:latin typeface="맑은 고딕"/>
              </a:rPr>
              <a:t>기대 효과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78828F"/>
                </a:solidFill>
                <a:latin typeface="맑은 고딕"/>
              </a:rPr>
              <a:t>알람 700건을 300건으로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D3D9E2"/>
                </a:solidFill>
                <a:latin typeface="맑은 고딕"/>
              </a:rPr>
              <a:t>기대 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972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8828F"/>
                </a:solidFill>
                <a:latin typeface="맑은 고딕"/>
              </a:rPr>
              <a:t>오픈 후 측정 예정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8828F"/>
                </a:solidFill>
                <a:latin typeface="Consola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SH-FMS-RPT-2026-001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691640"/>
            <a:ext cx="10881360" cy="384048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41932"/>
            <a:ext cx="2900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8828F"/>
                </a:solidFill>
                <a:latin typeface="맑은 고딕"/>
              </a:rPr>
              <a:t>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588" y="1741932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8828F"/>
                </a:solidFill>
                <a:latin typeface="맑은 고딕"/>
              </a:rPr>
              <a:t>현재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8114" y="1741932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8828F"/>
                </a:solidFill>
                <a:latin typeface="맑은 고딕"/>
              </a:rPr>
              <a:t>목표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7267" y="1741932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8828F"/>
                </a:solidFill>
                <a:latin typeface="맑은 고딕"/>
              </a:rPr>
              <a:t>측정 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59736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125980"/>
            <a:ext cx="2900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알람 발생량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6588" y="2125980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6483C"/>
                </a:solidFill>
                <a:latin typeface="맑은 고딕"/>
              </a:rPr>
              <a:t>700~900건/일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8114" y="2125980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9E63"/>
                </a:solidFill>
                <a:latin typeface="맑은 고딕"/>
              </a:rPr>
              <a:t>300건/일 이하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7267" y="2125980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오픈 +2개월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459736"/>
            <a:ext cx="10881360" cy="384048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843784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510028"/>
            <a:ext cx="2900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시간당 알람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6588" y="2510028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6483C"/>
                </a:solidFill>
                <a:latin typeface="맑은 고딕"/>
              </a:rPr>
              <a:t>최대 40건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114" y="2510028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9E63"/>
                </a:solidFill>
                <a:latin typeface="맑은 고딕"/>
              </a:rPr>
              <a:t>6건 이하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7267" y="2510028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오픈 +2개월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3227832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894076"/>
            <a:ext cx="2900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감시 화면 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6588" y="2894076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6483C"/>
                </a:solidFill>
                <a:latin typeface="맑은 고딕"/>
              </a:rPr>
              <a:t>5개 (설비사별)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8114" y="2894076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9E63"/>
                </a:solidFill>
                <a:latin typeface="맑은 고딕"/>
              </a:rPr>
              <a:t>1개 (웹)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7267" y="2894076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오픈 즉시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3227832"/>
            <a:ext cx="10881360" cy="384048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3611880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278124"/>
            <a:ext cx="2900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이상 인지 시간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6588" y="3278124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6483C"/>
                </a:solidFill>
                <a:latin typeface="맑은 고딕"/>
              </a:rPr>
              <a:t>최대 40분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8114" y="3278124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9E63"/>
                </a:solidFill>
                <a:latin typeface="맑은 고딕"/>
              </a:rPr>
              <a:t>1분 이내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7267" y="3278124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오픈 즉시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995928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3662172"/>
            <a:ext cx="2900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트렌드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6588" y="3662172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6A02C"/>
                </a:solidFill>
                <a:latin typeface="맑은 고딕"/>
              </a:rPr>
              <a:t>설비사 SW 별도 실행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8114" y="3662172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9E63"/>
                </a:solidFill>
                <a:latin typeface="맑은 고딕"/>
              </a:rPr>
              <a:t>웹에서 태그 6개 동시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7267" y="3662172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오픈 즉시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3995928"/>
            <a:ext cx="10881360" cy="384048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4379976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4046220"/>
            <a:ext cx="290047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에너지 집계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96588" y="4046220"/>
            <a:ext cx="246522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6A02C"/>
                </a:solidFill>
                <a:latin typeface="맑은 고딕"/>
              </a:rPr>
              <a:t>월말 수기 엑셀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8114" y="4046220"/>
            <a:ext cx="268284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9E63"/>
                </a:solidFill>
                <a:latin typeface="맑은 고딕"/>
              </a:rPr>
              <a:t>실시간 자동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7267" y="4046220"/>
            <a:ext cx="22475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3D9E2"/>
                </a:solidFill>
                <a:latin typeface="맑은 고딕"/>
              </a:rPr>
              <a:t>오픈 즉시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4572000"/>
            <a:ext cx="36576" cy="91440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45720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3D9E2"/>
                </a:solidFill>
                <a:latin typeface="맑은 고딕"/>
              </a:rPr>
              <a:t>알람 감축은 시스템만으로 안 된다. 빈발 알람 상위 10개의 한계값을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3D9E2"/>
                </a:solidFill>
                <a:latin typeface="맑은 고딕"/>
              </a:rPr>
              <a:t>운전원과 같이 재설정하는 작업(알람 합리화)이 반드시 따라와야 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D3D9E2"/>
                </a:solidFill>
                <a:latin typeface="맑은 고딕"/>
              </a:rPr>
              <a:t>잔여 과제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9264"/>
            <a:ext cx="566928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8828F"/>
                </a:solidFill>
                <a:latin typeface="Consolas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355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78828F"/>
                </a:solidFill>
                <a:latin typeface="맑은 고딕"/>
              </a:rPr>
              <a:t>SH-FMS-RPT-2026-001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5336895" cy="237744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737360"/>
            <a:ext cx="5336895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920240"/>
            <a:ext cx="493455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5C0D6"/>
                </a:solidFill>
                <a:latin typeface="Consolas"/>
              </a:rPr>
              <a:t>진행 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157984"/>
            <a:ext cx="4934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1차 잔여 (10~11월)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468880"/>
            <a:ext cx="4934559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· CCTV WebRTC 중계 서버 (NVR 교체 완료 후)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· 관제실 4K 대형모니터 2대 표출 시험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· 운전원 관점 사용성 점검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· 알람 합리화 1차 — 빈발 상위 10개 한계값 재설정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· 기존 설비사 화면 대비 기능 커버리지 점검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737360"/>
            <a:ext cx="5336895" cy="2377440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737360"/>
            <a:ext cx="5336895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920240"/>
            <a:ext cx="493455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5C0D6"/>
                </a:solidFill>
                <a:latin typeface="Consolas"/>
              </a:rPr>
              <a:t>이월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7599" y="2157984"/>
            <a:ext cx="49345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3D9E2"/>
                </a:solidFill>
                <a:latin typeface="맑은 고딕"/>
              </a:rPr>
              <a:t>2차 과제 (2027 상반기)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7599" y="2468880"/>
            <a:ext cx="4934559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· Mitsubishi MC 프로토콜 (아산2공장 확산)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· 히스토리안 TimescaleDB 이전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  (원본 90일 / 1분 평균 3년)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· 수집기 이중화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· 진동·온도 기반 예지보전 (MES 연계)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434840"/>
            <a:ext cx="10881360" cy="329184"/>
          </a:xfrm>
          <a:prstGeom prst="rect">
            <a:avLst/>
          </a:prstGeom>
          <a:solidFill>
            <a:srgbClr val="141920"/>
          </a:solidFill>
          <a:ln w="12700">
            <a:solidFill>
              <a:srgbClr val="242C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485132"/>
            <a:ext cx="22475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78828F"/>
                </a:solidFill>
                <a:latin typeface="맑은 고딕"/>
              </a:rPr>
              <a:t>구분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3707" y="4485132"/>
            <a:ext cx="83411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78828F"/>
                </a:solidFill>
                <a:latin typeface="맑은 고딕"/>
              </a:rPr>
              <a:t>내용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093208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4814316"/>
            <a:ext cx="22475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관제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43707" y="4814316"/>
            <a:ext cx="83411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8종 (ISA-101 Level 1~4)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093208"/>
            <a:ext cx="10881360" cy="329184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422392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143500"/>
            <a:ext cx="22475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C++ 수집기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43707" y="5143500"/>
            <a:ext cx="83411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12개 파일 — 드라이버 2종, 태그 저장소, 업로더, 설정 파서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751576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472684"/>
            <a:ext cx="22475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C# 게이트웨이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43707" y="5472684"/>
            <a:ext cx="83411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Minimal API + SignalR, ISA-18.2 알람 엔진, 히스토리안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751576"/>
            <a:ext cx="10881360" cy="329184"/>
          </a:xfrm>
          <a:prstGeom prst="rect">
            <a:avLst/>
          </a:prstGeom>
          <a:solidFill>
            <a:srgbClr val="14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6080760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801868"/>
            <a:ext cx="22475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차트 · 영상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43707" y="5801868"/>
            <a:ext cx="83411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3D9E2"/>
                </a:solidFill>
                <a:latin typeface="맑은 고딕"/>
              </a:rPr>
              <a:t>SVG 차트 5종 + 캔버스 CCTV 뷰어 (자체 구현)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409944"/>
            <a:ext cx="10881360" cy="9144"/>
          </a:xfrm>
          <a:prstGeom prst="rect">
            <a:avLst/>
          </a:prstGeom>
          <a:solidFill>
            <a:srgbClr val="242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6131052"/>
            <a:ext cx="22475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5C0D6"/>
                </a:solidFill>
                <a:latin typeface="맑은 고딕"/>
              </a:rPr>
              <a:t>외부 의존성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43707" y="6131052"/>
            <a:ext cx="83411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5C0D6"/>
                </a:solidFill>
                <a:latin typeface="맑은 고딕"/>
              </a:rPr>
              <a:t>없음 — NuGet · npm · CDN 미사용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D3D9E2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971800"/>
            <a:ext cx="914400" cy="32004"/>
          </a:xfrm>
          <a:prstGeom prst="rect">
            <a:avLst/>
          </a:prstGeom>
          <a:solidFill>
            <a:srgbClr val="35C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9601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78828F"/>
                </a:solidFill>
                <a:latin typeface="맑은 고딕"/>
              </a:rPr>
              <a:t>만든 사람 : 남성흠  ·  프로젝트SH (개인 프로젝트)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78828F"/>
                </a:solidFill>
                <a:latin typeface="맑은 고딕"/>
              </a:rPr>
              <a:t>첨부 : 사전조사 보고서(100건) · 작업지시서 · 요구사항정의서 · 화면설계서 · 백엔드 문서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943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78828F"/>
                </a:solidFill>
                <a:latin typeface="맑은 고딕"/>
              </a:rPr>
              <a:t>SH-FMS v3.2 · 자동화공장 통합 모니터링 · SH-FMS-RPT-2026-001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